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ASID · 2025/2026  ·  Universidade do Minho  ·  Grupo 11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11274552" cy="0"/>
          </a:xfrm>
          <a:prstGeom prst="line">
            <a:avLst/>
          </a:prstGeom>
          <a:ln w="25400">
            <a:solidFill>
              <a:srgbClr val="2233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000" b="1" i="0">
                <a:solidFill>
                  <a:srgbClr val="223355"/>
                </a:solidFill>
                <a:latin typeface="Calibri"/>
              </a:rPr>
              <a:t>Relatório Final XCommerce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1247120" cy="146304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Um estudo sobre a transição de uma aplicação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de comércio online monolítica para uma abordagem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baseada em microserviços, com recurso ao Spring Boot.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5029200"/>
            <a:ext cx="3657600" cy="0"/>
          </a:xfrm>
          <a:prstGeom prst="line">
            <a:avLst/>
          </a:prstGeom>
          <a:ln w="25400">
            <a:solidFill>
              <a:srgbClr val="B035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516636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Liandro Macedo da Cruz · PG61472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Miguel Angelo · Rafael · Tomás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Maio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0789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23355"/>
                </a:solidFill>
                <a:latin typeface="Calibri"/>
              </a:rPr>
              <a:t>Agenda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60120"/>
            <a:ext cx="11457432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1.  Introdução — problema arquitectural, alternativas consideradas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2.  Questões de investigação (QI1–QI4) e hipóteses (H1–H4)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3.  Enquadramento teórico — Newman, Fowler, Evans, Richardson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4.  Sistema de referência (AS-IS) — arquitectura do monólito XCommerce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5.  Limitações estruturais e funcionais que motivam a decomposição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6.  Arquitectura TO-BE — decomposição em microserviços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7.  Justificação por bounded context: Cart/Catalog, Identity, Inventory, Notification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8.  Papel do API Gateway e introdução de Circuit Breakers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9.  Database per Service — três abordagens, escolha e implicações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10. Comunicação inter-serviço — REST síncrono vs Kafka assíncrono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11. Análise de Workflows — W1 (carrinho), W2 (encomenda), W3 (checkout), W4 (falha)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12. Avaliação experimental — metodologia, ambiente, dataset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13. Resultados — H1 (acoplamento), H2 (latência), H3 (consistência), H4 (recursos)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14. Discussão dos quatro atributos de qualidade — trade-offs consolidados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15. Conclusões, respostas às QI, limitações, extensões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ASID 2025/2026 · Grupo 11 · Liandro Cruz (PG61472), Miguel Angelo, Rafael, Tomás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0789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23355"/>
                </a:solidFill>
                <a:latin typeface="Calibri"/>
              </a:rPr>
              <a:t>Resumo do Trabalho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60120"/>
            <a:ext cx="11457432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88720"/>
            <a:ext cx="11155680" cy="50292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 arquitectura de software tem um impacto directo na escalabilidade, manutenção e adaptabilidade das aplicações. As arquitecturas monolíticas constituem uma abordagem tradicional, mas, à medida que as aplicações evoluem e as exigências do mercado se intensificam, surgem desafios como o acoplamento excessivo e a dificuldade de incorporar novas funcionalidades de forma ágil.</a:t>
            </a:r>
          </a:p>
          <a:p>
            <a:pPr algn="just">
              <a:lnSpc>
                <a:spcPct val="130000"/>
              </a:lnSpc>
              <a:spcAft>
                <a:spcPts val="400"/>
              </a:spcAft>
            </a:pPr>
          </a:p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 migração para uma abordagem baseada em microserviços promove uma maior modularidade e independência entre os componentes, facilitando a escalabilidade e a resiliência do sistema.</a:t>
            </a:r>
          </a:p>
          <a:p>
            <a:pPr algn="just">
              <a:lnSpc>
                <a:spcPct val="130000"/>
              </a:lnSpc>
              <a:spcAft>
                <a:spcPts val="400"/>
              </a:spcAft>
            </a:pPr>
          </a:p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Este trabalho analisa a transição de uma aplicação de comércio online — inicialmente desenvolvida como um monólito Spring Boot — para uma arquitectura distribuída composta por microserviços. São discutidos os desafios inerentes ao modelo monolítico, os benefícios esperados com a descentralização dos serviços, e proposto um modelo arquitectural alinhado com as melhores práticas de engenharia de software distribuído.</a:t>
            </a:r>
          </a:p>
          <a:p>
            <a:pPr algn="just">
              <a:lnSpc>
                <a:spcPct val="130000"/>
              </a:lnSpc>
              <a:spcAft>
                <a:spcPts val="400"/>
              </a:spcAft>
            </a:pPr>
          </a:p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Palavras-chave:</a:t>
            </a:r>
            <a:r>
              <a:rPr sz="1400" b="0">
                <a:solidFill>
                  <a:srgbClr val="1A1A1A"/>
                </a:solidFill>
                <a:latin typeface="Calibri"/>
              </a:rPr>
              <a:t> Arquitectura monolítica · Migração para microserviços · Escalabilidade · Resiliência · Modernização de software · Engenharia de Software Distribuído.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ASID 2025/2026 · Grupo 11 · Liandro Cruz (PG61472), Miguel Angelo, Rafael, Tomás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0789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23355"/>
                </a:solidFill>
                <a:latin typeface="Calibri"/>
              </a:rPr>
              <a:t>Problema arquitectural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7899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O dilema recorrente das arquitecturas de e-commerce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57432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0"/>
            <a:ext cx="11155680" cy="18288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As arquitecturas de software para sistemas de comércio electrónico enfrentam um dilema recorrente: à medida que o sistema cresce, o monólito inicialmente simplificado ou de desenvolvimento torna-se um obstáculo à evolução independente dos seus domínios funcionais.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 literatura propõe a arquitectura de microserviços como resposta, mas a transição não é isenta de custos: introduz latência de rede, consistência eventual e complexidade operacional que, em certos contextos, podem superar os benefícios obtidos.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223355"/>
                </a:solidFill>
                <a:latin typeface="Calibri"/>
              </a:rPr>
              <a:t>O caso concreto: XCommerce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155680" cy="9144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Aplicação de comércio electrónico implementada como </a:t>
            </a:r>
            <a:r>
              <a:rPr sz="1300" b="1">
                <a:solidFill>
                  <a:srgbClr val="1A1A1A"/>
                </a:solidFill>
                <a:latin typeface="Calibri"/>
              </a:rPr>
              <a:t>monólito em Spring Boot</a:t>
            </a:r>
            <a:r>
              <a:rPr sz="1300" b="0">
                <a:solidFill>
                  <a:srgbClr val="1A1A1A"/>
                </a:solidFill>
                <a:latin typeface="Calibri"/>
              </a:rPr>
              <a:t>, onde autenticação, catálogo de produtos, carrinho de compras e processamento de encomendas partilham um único processo JVM e uma única instância PostgreSQL.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B03520"/>
                </a:solidFill>
                <a:latin typeface="Calibri"/>
              </a:rPr>
              <a:t>Problema central: acoplamento estrutural do fluxo de checkout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1155680" cy="146304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B03520"/>
                </a:solidFill>
                <a:latin typeface="Calibri"/>
              </a:rPr>
              <a:t>•  </a:t>
            </a:r>
            <a:r>
              <a:rPr sz="1200" b="1">
                <a:solidFill>
                  <a:srgbClr val="1A1A1A"/>
                </a:solidFill>
                <a:latin typeface="Calibri"/>
              </a:rPr>
              <a:t>Ponto único de falha</a:t>
            </a:r>
            <a:r>
              <a:rPr sz="1200" b="0">
                <a:solidFill>
                  <a:srgbClr val="1A1A1A"/>
                </a:solidFill>
                <a:latin typeface="Calibri"/>
              </a:rPr>
              <a:t>: degradação em qualquer domínio (ex.: sobrecarga no checkout) propaga-se imediatamente a todos os restantes, incluindo autenticação e consulta de catálogo.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B03520"/>
                </a:solidFill>
                <a:latin typeface="Calibri"/>
              </a:rPr>
              <a:t>•  </a:t>
            </a:r>
            <a:r>
              <a:rPr sz="1200" b="1">
                <a:solidFill>
                  <a:srgbClr val="1A1A1A"/>
                </a:solidFill>
                <a:latin typeface="Calibri"/>
              </a:rPr>
              <a:t>Deployability acoplada</a:t>
            </a:r>
            <a:r>
              <a:rPr sz="1200" b="0">
                <a:solidFill>
                  <a:srgbClr val="1A1A1A"/>
                </a:solidFill>
                <a:latin typeface="Calibri"/>
              </a:rPr>
              <a:t>: qualquer alteração ao código de um módulo obriga ao redeployment completo, interrompendo todas as funcionalidades.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ASID 2025/2026 · Grupo 11 · Liandro Cruz (PG61472), Miguel Angelo, Rafael, Tomás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0789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23355"/>
                </a:solidFill>
                <a:latin typeface="Calibri"/>
              </a:rPr>
              <a:t>Alternativas arquitecturais consideradas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60120"/>
            <a:ext cx="11457432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1887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555555"/>
                </a:solidFill>
                <a:latin typeface="Calibri"/>
              </a:rPr>
              <a:t>Questão central:  </a:t>
            </a:r>
            <a:r>
              <a:rPr sz="1400" b="1">
                <a:solidFill>
                  <a:srgbClr val="223355"/>
                </a:solidFill>
                <a:latin typeface="Calibri"/>
              </a:rPr>
              <a:t>a decomposição em microserviços melhora o isolamento de falhas e a deployability independente por domínio, e a que custo em termos de latência e complexidade operacional?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114800"/>
                <a:gridCol w="4846320"/>
              </a:tblGrid>
              <a:tr h="1028700">
                <a:tc>
                  <a:txBody>
                    <a:bodyPr lIns="45000" rIns="45000" tIns="25000" bIns="25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Alternativa</a:t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  <a:tc>
                  <a:txBody>
                    <a:bodyPr lIns="45000" rIns="45000" tIns="25000" bIns="25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Descrição</a:t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  <a:tc>
                  <a:txBody>
                    <a:bodyPr lIns="45000" rIns="45000" tIns="25000" bIns="25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Limitação</a:t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</a:tr>
              <a:tr h="1028700">
                <a:tc>
                  <a:txBody>
                    <a:bodyPr lIns="45000" rIns="45000" tIns="20000" bIns="20000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Monólito Modular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Separação lógica entre módulos mantendo um único artefacto de deployment.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Reduz acoplamento de código mas não elimina o ponto único de falha operacional nem permite scaling/redeployment independente por domínio.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45000" rIns="45000" tIns="20000" bIns="20000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SOA com ESB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Decompõe o sistema em serviços integrados por um Enterprise Service Bus centralizado, responsável pelo roteamento, transformação e orquestração.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O barramento torna-se um novo ponto único de falha (desloca o problema). Segue smart pipes/dumb endpoints — concentra lógica num componente externo, criando dependência forte.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028700">
                <a:tc>
                  <a:txBody>
                    <a:bodyPr lIns="45000" rIns="45000" tIns="20000" bIns="20000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Microserviços com DDD
(escolhida)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Cada domínio funcional é implementado como serviço autónomo, com BD própria e ciclo de deployment independente. Fronteiras definidas por Bounded Contexts.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Permite avaliar empiricamente os trade-offs de isolamento de falhas, latência inter-serviço e deployability que motivam a decomposição.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ASID 2025/2026 · Grupo 11 · Liandro Cruz (PG61472), Miguel Angelo, Rafael, Tomás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0789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23355"/>
                </a:solidFill>
                <a:latin typeface="Calibri"/>
              </a:rPr>
              <a:t>Questões de investigação (QI1 · QI2)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7899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Cada hipótese é validada por uma experiência empírica controlada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57432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377440"/>
                <a:gridCol w="4206240"/>
                <a:gridCol w="4206240"/>
              </a:tblGrid>
              <a:tr h="1676400">
                <a:tc>
                  <a:txBody>
                    <a:bodyPr lIns="45000" rIns="45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  <a:tc>
                  <a:txBody>
                    <a:bodyPr lIns="45000" rIns="45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Questão</a:t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  <a:tc>
                  <a:txBody>
                    <a:bodyPr lIns="45000" rIns="45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Hipótese</a:t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  <a:tc>
                  <a:txBody>
                    <a:bodyPr lIns="45000" rIns="45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Critério de validação</a:t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</a:tr>
              <a:tr h="1676400">
                <a:tc>
                  <a:txBody>
                    <a:bodyPr lIns="45000" rIns="45000" tIns="20000" bIns="20000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QI1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 decomposição em microserviços elimina ou apenas redistribui o acoplamento entre domínios?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H1</a:t>
                      </a: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: A decomposição substitui acoplamento estrutural compile-time (FKs JPA, entidades partilhadas, deploy conjunto) por acoplamento temporal runtime (REST síncrono) e acoplamento eventual (Kafka), sem reduzir o número total de dependências cross-domain.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Contar dependências antes/depois: FKs cross-domain, imports JPA, entidades partilhadas (mono) vs Feign Clients, tópicos Kafka, propagação de identidade (micro).
H1 confirmada se total_micro ≥ total_mono.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400">
                <a:tc>
                  <a:txBody>
                    <a:bodyPr lIns="45000" rIns="45000" tIns="20000" bIns="20000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QI2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 que custo em latência se paga a decomposição em fluxos de complexidade crescente?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H2</a:t>
                      </a: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: O overhead de latência p95 introduzido pela decomposição é desprezável em fluxos simples (T1: leitura, 1 hop) e dominante em fluxos transaccionais coordenados (T3: checkout, 3 hops síncronos). Rácio p95(micro)/p95(mono) é significativamente maior em T3 do que em T1.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Medir p95 de T1 e T3 em ambas (k6, 10 VUs, 3 min). Calcular rácio por cenário.
H2 confirmada se rácio_T3 ≫ rácio_T1.
Complementar com trace Jaeger do T3 para decompor o tempo por hop.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ASID 2025/2026 · Grupo 11 · Liandro Cruz (PG61472), Miguel Angelo, Rafael, Tomás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0789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23355"/>
                </a:solidFill>
                <a:latin typeface="Calibri"/>
              </a:rPr>
              <a:t>Questões de investigação (QI3 · QI4)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960120"/>
            <a:ext cx="11457432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377440"/>
                <a:gridCol w="4206240"/>
                <a:gridCol w="4206240"/>
              </a:tblGrid>
              <a:tr h="1676400">
                <a:tc>
                  <a:txBody>
                    <a:bodyPr lIns="45000" rIns="45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  <a:tc>
                  <a:txBody>
                    <a:bodyPr lIns="45000" rIns="45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Questão</a:t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  <a:tc>
                  <a:txBody>
                    <a:bodyPr lIns="45000" rIns="45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Hipótese</a:t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  <a:tc>
                  <a:txBody>
                    <a:bodyPr lIns="45000" rIns="45000" tIns="25000" bIns="25000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Critério de validação</a:t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</a:tr>
              <a:tr h="1676400">
                <a:tc>
                  <a:txBody>
                    <a:bodyPr lIns="45000" rIns="45000" tIns="20000" bIns="20000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QI3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A comunicação assíncrona via Kafka melhora ou degrada a consistência sob falha parcial face à transacção ACID do monólito?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H3</a:t>
                      </a: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: Sem mecanismos de compensação (Saga, idempotência e DLQ), a comunicação assíncrona apresenta maior potencial de inconsistência do que a transacção ACID do monólito.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Executar cenário zombie (inventory-service parado durante checkout) e observar estado dos BDs e tópico Kafka. Cenário equivalente no monólito (falha da BD a meio da transacção) e verificar rollback automático.
H3 confirmada se microserviços apresentarem estados inconsistentes que não surgem no monólito.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400">
                <a:tc>
                  <a:txBody>
                    <a:bodyPr lIns="45000" rIns="45000" tIns="20000" bIns="20000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QI4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Qual o custo operacional em repouso da decomposição face ao monólito?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H4</a:t>
                      </a:r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: O overhead fixo de RAM em idle dos microserviços é significativamente superior ao monólito (estimado 5–8×), dominado pelo custo por processo JVM e pela infraestrutura de suporte (Kafka, Zookeeper, 6 instâncias PostgreSQL).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Medir RAM e CPU em idle com docker stats em ambas (24 amostras × 5s, 3 corridas, mediana). Calcular rácio total_micro / total_mono.
H4 confirmada se rácio &gt; 3×.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ASID 2025/2026 · Grupo 11 · Liandro Cruz (PG61472), Miguel Angelo, Rafael, Tomás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0789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23355"/>
                </a:solidFill>
                <a:latin typeface="Calibri"/>
              </a:rPr>
              <a:t>Enquadramento teórico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7899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Três áreas da literatura mobilizadas para fundamentar o trabalho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57432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0"/>
            <a:ext cx="11155680" cy="54864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 bibliografia consultada concentra-se em três áreas complementares: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155680" cy="34747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B03520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Decomposição arquitectural propriamente dita</a:t>
            </a:r>
            <a:r>
              <a:rPr sz="1300" b="0">
                <a:solidFill>
                  <a:srgbClr val="1A1A1A"/>
                </a:solidFill>
                <a:latin typeface="Calibri"/>
              </a:rPr>
              <a:t> — Newman (2021) sistematiza as motivações, padrões e armadilhas da transição para microserviços; Fowler &amp; Lewis (2014) cunham a definição operacional do termo; Richardson (2018) cataloga os padrões aplicáveis.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B03520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Desenho do domínio</a:t>
            </a:r>
            <a:r>
              <a:rPr sz="1300" b="0">
                <a:solidFill>
                  <a:srgbClr val="1A1A1A"/>
                </a:solidFill>
                <a:latin typeface="Calibri"/>
              </a:rPr>
              <a:t> — Evans (2003) introduz os conceitos de Bounded Context e Ubiquitous Language, que orientam neste trabalho a definição das fronteiras entre serviços.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 b="1">
                <a:solidFill>
                  <a:srgbClr val="B03520"/>
                </a:solidFill>
                <a:latin typeface="Calibri"/>
              </a:rPr>
              <a:t>•  </a:t>
            </a:r>
            <a:r>
              <a:rPr sz="1300" b="1">
                <a:solidFill>
                  <a:srgbClr val="1A1A1A"/>
                </a:solidFill>
                <a:latin typeface="Calibri"/>
              </a:rPr>
              <a:t>Padrões de resiliência e consistência distribuída</a:t>
            </a:r>
            <a:r>
              <a:rPr sz="1300" b="0">
                <a:solidFill>
                  <a:srgbClr val="1A1A1A"/>
                </a:solidFill>
                <a:latin typeface="Calibri"/>
              </a:rPr>
              <a:t> — circuit breakers, Saga, outbox, idempotência: relevantes para a compreensão das limitações que a decomposição introduz e dos mecanismos disponíveis para as mitigar.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120640"/>
            <a:ext cx="1118311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223355"/>
                </a:solidFill>
                <a:latin typeface="Calibri"/>
              </a:rPr>
              <a:t>Abordagem metodológica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11155680" cy="9144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Comparativa entre o sistema original (AS-IS) e a proposta (TO-BE) em condições de </a:t>
            </a:r>
            <a:r>
              <a:rPr sz="1300" b="1">
                <a:solidFill>
                  <a:srgbClr val="1A1A1A"/>
                </a:solidFill>
                <a:latin typeface="Calibri"/>
              </a:rPr>
              <a:t>paridade funcional</a:t>
            </a:r>
            <a:r>
              <a:rPr sz="1300" b="0">
                <a:solidFill>
                  <a:srgbClr val="1A1A1A"/>
                </a:solidFill>
                <a:latin typeface="Calibri"/>
              </a:rPr>
              <a:t>. Os resultados são interpretados à luz dos quatro atributos de qualidade do enunciado: </a:t>
            </a:r>
            <a:r>
              <a:rPr sz="1300" b="1">
                <a:solidFill>
                  <a:srgbClr val="1A1A1A"/>
                </a:solidFill>
                <a:latin typeface="Calibri"/>
              </a:rPr>
              <a:t>desempenho, disponibilidade, deployability e custo operacional</a:t>
            </a:r>
            <a:r>
              <a:rPr sz="13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ASID 2025/2026 · Grupo 11 · Liandro Cruz (PG61472), Miguel Angelo, Rafael, Tomás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0789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23355"/>
                </a:solidFill>
                <a:latin typeface="Calibri"/>
              </a:rPr>
              <a:t>Sistema de referência (AS-IS) — arquitectura do monólito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7899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Spring Boot 2.1.9 · Java 8 · 33 classes · 5 packages · 1 JVM · 1 schema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57432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0"/>
            <a:ext cx="11155680" cy="146304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just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O XCommerce na sua forma original é uma aplicação Spring Boot organizada internamente em camadas (controllers, serviços, repositórios e entidades) mas implantada como </a:t>
            </a:r>
            <a:r>
              <a:rPr sz="1200" b="1">
                <a:solidFill>
                  <a:srgbClr val="1A1A1A"/>
                </a:solidFill>
                <a:latin typeface="Calibri"/>
              </a:rPr>
              <a:t>um único artefacto</a:t>
            </a:r>
            <a:r>
              <a:rPr sz="1200" b="0">
                <a:solidFill>
                  <a:srgbClr val="1A1A1A"/>
                </a:solidFill>
                <a:latin typeface="Calibri"/>
              </a:rPr>
              <a:t>. Toda a funcionalidade — autenticação, gestão do catálogo, carrinho de compras e processamento de encomendas — corre no mesmo processo, partilha o mesmo gestor de persistência JPA e escreve numa única instância PostgreSQL. O carrinho usa adicionalmente Redis como cache em memória.</a:t>
            </a:r>
          </a:p>
          <a:p>
            <a:pPr algn="just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Internamente segue o padrão </a:t>
            </a:r>
            <a:r>
              <a:rPr sz="1200" b="1">
                <a:solidFill>
                  <a:srgbClr val="1A1A1A"/>
                </a:solidFill>
                <a:latin typeface="Calibri"/>
              </a:rPr>
              <a:t>MVC clássico</a:t>
            </a:r>
            <a:r>
              <a:rPr sz="1200" b="0">
                <a:solidFill>
                  <a:srgbClr val="1A1A1A"/>
                </a:solidFill>
                <a:latin typeface="Calibri"/>
              </a:rPr>
              <a:t>, com responsabilidades distribuídas por cerca de três dezenas de classes agrupadas por camada. A separação lógica é clara, mas não corresponde a qualquer fronteira de deployment ou de falha.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20040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326880"/>
              </a:tblGrid>
              <a:tr h="518160">
                <a:tc>
                  <a:txBody>
                    <a:bodyPr lIns="45000" rIns="45000" tIns="25000" bIns="25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Package</a:t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  <a:tc>
                  <a:txBody>
                    <a:bodyPr lIns="45000" rIns="45000" tIns="25000" bIns="25000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Conteúdo</a:t>
                      </a:r>
                    </a:p>
                  </a:txBody>
                  <a:tcPr>
                    <a:solidFill>
                      <a:srgbClr val="223355"/>
                    </a:solidFill>
                  </a:tcPr>
                </a:tc>
              </a:tr>
              <a:tr h="518160">
                <a:tc>
                  <a:txBody>
                    <a:bodyPr lIns="45000" rIns="45000" tIns="20000" bIns="20000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controllers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UserRestController · OrderRestController · ShoppingCartRestController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45000" rIns="45000" tIns="20000" bIns="20000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services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UserService · OrderService · ShoppingCartService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 lIns="45000" rIns="45000" tIns="20000" bIns="20000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data/entities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User · Order · OrderLine · Product · Brand · Category · Review · Authority · BaseEntity · OrderStatus · IllegalStatusChangeException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lIns="45000" rIns="45000" tIns="20000" bIns="20000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data/repositories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UserRepository · OrderRepository · ProductRepository · BrandRepository · CategoryRepository · ReviewRepository · AuthorityRepository · BaseRepository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 lIns="45000" rIns="45000" tIns="20000" bIns="20000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000" rIns="45000" tIns="20000" bIns="20000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JwtHelper · JwtInterceptingFilter · SecurityConfigurer · UserAuditor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ASID 2025/2026 · Grupo 11 · Liandro Cruz (PG61472), Miguel Angelo, Rafael, Tomás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3.2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107899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223355"/>
                </a:solidFill>
                <a:latin typeface="Calibri"/>
              </a:rPr>
              <a:t>Limitações que motivam a decomposição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107899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Estruturais (acoplamento) e funcionais (paridade)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960120"/>
            <a:ext cx="11457432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0"/>
            <a:ext cx="11155680" cy="228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B03520"/>
                </a:solidFill>
                <a:latin typeface="Calibri"/>
              </a:rPr>
              <a:t>•  </a:t>
            </a:r>
            <a:r>
              <a:rPr sz="1200" b="1">
                <a:solidFill>
                  <a:srgbClr val="1A1A1A"/>
                </a:solidFill>
                <a:latin typeface="Calibri"/>
              </a:rPr>
              <a:t>Acoplamento Carrinho ↔ Catálogo</a:t>
            </a:r>
            <a:r>
              <a:rPr sz="1200" b="0">
                <a:solidFill>
                  <a:srgbClr val="1A1A1A"/>
                </a:solidFill>
                <a:latin typeface="Calibri"/>
              </a:rPr>
              <a:t> — o carrinho não armazena meras referências aos produtos: guarda em cache Redis a entidade JPA Product completa, incluindo preço, peso, desconto, categoria e marca. Eficaz em leitura, transforma qualquer alteração ao modelo de produto numa potencial corrupção do estado do carrinho.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B03520"/>
                </a:solidFill>
                <a:latin typeface="Calibri"/>
              </a:rPr>
              <a:t>•  </a:t>
            </a:r>
            <a:r>
              <a:rPr sz="1200" b="1">
                <a:solidFill>
                  <a:srgbClr val="1A1A1A"/>
                </a:solidFill>
                <a:latin typeface="Calibri"/>
              </a:rPr>
              <a:t>Acoplamento total no checkout</a:t>
            </a:r>
            <a:r>
              <a:rPr sz="1200" b="0">
                <a:solidFill>
                  <a:srgbClr val="1A1A1A"/>
                </a:solidFill>
                <a:latin typeface="Calibri"/>
              </a:rPr>
              <a:t> — quando um utilizador faz checkout, o sistema executa numa única operação: valida o utilizador, lê o carrinho, percorre os produtos e cria a encomenda. Uma falha em qualquer destes passos derruba simultaneamente todas as funcionalidades, incluindo operações independentes como a consulta do catálogo.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B03520"/>
                </a:solidFill>
                <a:latin typeface="Calibri"/>
              </a:rPr>
              <a:t>•  </a:t>
            </a:r>
            <a:r>
              <a:rPr sz="1200" b="1">
                <a:solidFill>
                  <a:srgbClr val="1A1A1A"/>
                </a:solidFill>
                <a:latin typeface="Calibri"/>
              </a:rPr>
              <a:t>Escalabilidade monolítica</a:t>
            </a:r>
            <a:r>
              <a:rPr sz="1200" b="0">
                <a:solidFill>
                  <a:srgbClr val="1A1A1A"/>
                </a:solidFill>
                <a:latin typeface="Calibri"/>
              </a:rPr>
              <a:t> — o catálogo de produtos é tipicamente o domínio com maior volume de tráfego, enquanto o checkout é uma operação pontual. No monólito não é possível escalar um domínio independentemente: aumentar a capacidade do catálogo implica replicar toda a aplicação.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72000"/>
            <a:ext cx="11183112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B03520"/>
                </a:solidFill>
                <a:latin typeface="Calibri"/>
              </a:rPr>
              <a:t>Limitações funcionais corrigidas para garantir paridade na comparação experimental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11155680" cy="13716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B03520"/>
                </a:solidFill>
                <a:latin typeface="Calibri"/>
              </a:rPr>
              <a:t>•  </a:t>
            </a:r>
            <a:r>
              <a:rPr sz="1200" b="0">
                <a:solidFill>
                  <a:srgbClr val="1A1A1A"/>
                </a:solidFill>
                <a:latin typeface="Calibri"/>
              </a:rPr>
              <a:t>Versão original </a:t>
            </a:r>
            <a:r>
              <a:rPr sz="1200" b="1">
                <a:solidFill>
                  <a:srgbClr val="1A1A1A"/>
                </a:solidFill>
                <a:latin typeface="Calibri"/>
              </a:rPr>
              <a:t>não validava o stock no checkout</a:t>
            </a:r>
            <a:r>
              <a:rPr sz="1200" b="0">
                <a:solidFill>
                  <a:srgbClr val="1A1A1A"/>
                </a:solidFill>
                <a:latin typeface="Calibri"/>
              </a:rPr>
              <a:t>, apesar de o campo correspondente existir na entidade Product.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00" b="1">
                <a:solidFill>
                  <a:srgbClr val="B03520"/>
                </a:solidFill>
                <a:latin typeface="Calibri"/>
              </a:rPr>
              <a:t>•  </a:t>
            </a:r>
            <a:r>
              <a:rPr sz="1200" b="0">
                <a:solidFill>
                  <a:srgbClr val="1A1A1A"/>
                </a:solidFill>
                <a:latin typeface="Calibri"/>
              </a:rPr>
              <a:t>Os controladores </a:t>
            </a:r>
            <a:r>
              <a:rPr sz="1200" b="1">
                <a:solidFill>
                  <a:srgbClr val="1A1A1A"/>
                </a:solidFill>
                <a:latin typeface="Calibri"/>
              </a:rPr>
              <a:t>utilizavam um identificador de utilizador fixo</a:t>
            </a:r>
            <a:r>
              <a:rPr sz="1200" b="0">
                <a:solidFill>
                  <a:srgbClr val="1A1A1A"/>
                </a:solidFill>
                <a:latin typeface="Calibri"/>
              </a:rPr>
              <a:t> em vez de extrair a identidade do token JWT.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ASID 2025/2026 · Grupo 11 · Liandro Cruz (PG61472), Miguel Angelo, Rafael, Tomás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10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